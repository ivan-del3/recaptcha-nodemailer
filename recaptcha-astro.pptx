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 Delgado Alcobenda  -  Alumno CEAC FP" initials="ID" lastIdx="1" clrIdx="0">
    <p:extLst>
      <p:ext uri="{19B8F6BF-5375-455C-9EA6-DF929625EA0E}">
        <p15:presenceInfo xmlns:p15="http://schemas.microsoft.com/office/powerpoint/2012/main" userId="S::ivan.delgado@alu.ceacfp.es::4c9ab589-c8fe-4884-8fc1-7010adb5ce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1T11:28:22.761" idx="1">
    <p:pos x="4500" y="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457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88C0-E2BA-F882-BFD2-5BA57BF02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E2709-BE6C-D6EA-4394-B73E1667E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2F5DC-5559-CC9E-DCED-05B0749F5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36A9E-D956-38AB-885B-C8EDD1722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773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5486400" y="274320"/>
            <a:ext cx="347472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9144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reCAPTCHA v2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1920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 con Astro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anti-bots · API de Google · Integración en Astro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4297680"/>
            <a:ext cx="2194560" cy="411480"/>
          </a:xfrm>
          <a:prstGeom prst="rect">
            <a:avLst/>
          </a:prstGeom>
          <a:solidFill>
            <a:srgbClr val="1A2A3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reCAPTCHA API</a:t>
            </a:r>
            <a:endParaRPr lang="en-US" sz="11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0D026B5-8447-D39C-9F4A-2E5415CF99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51" t="39778" r="6100" b="39728"/>
          <a:stretch>
            <a:fillRect/>
          </a:stretch>
        </p:blipFill>
        <p:spPr>
          <a:xfrm>
            <a:off x="3040380" y="4273655"/>
            <a:ext cx="2057400" cy="4783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reCAPTCHA?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Google para distinguir usuarios humanos de bots automatizados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371600"/>
          </a:xfrm>
          <a:prstGeom prst="rect">
            <a:avLst/>
          </a:prstGeom>
          <a:solidFill>
            <a:srgbClr val="0D2B35"/>
          </a:solidFill>
          <a:ln w="12700">
            <a:solidFill>
              <a:srgbClr val="00C6B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Checkbox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«No soy un robot». Interacción explícita del usuario.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08960" y="1508760"/>
            <a:ext cx="1234440" cy="27432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108960" y="1508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137160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Invisible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288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checkbox visible. Lanza el desafío solo ante comportamiento sospechoso.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37160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0292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interrupción. Devuelve puntuación 0.0–1.0. El desarrollador decide qué hacer en función de la puntuación.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37160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89204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34290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pago. Métricas avanzadas, SLA de Google Cloud. Para banca y e-commerce.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usar reCAPTCHA?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777240"/>
          </a:xfrm>
          <a:prstGeom prst="rect">
            <a:avLst/>
          </a:prstGeom>
          <a:solidFill>
            <a:srgbClr val="2D1A1A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886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Problema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formulario sin protección en producción es  una puerta abierta a spam, saturación del servidor y ataques de enumeración.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651760" cy="283464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29768" y="2480818"/>
            <a:ext cx="2468880" cy="36576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11480" y="2101723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simple para el usuario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660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solo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minima antes de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Añade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afectar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usuario.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874520"/>
            <a:ext cx="2651760" cy="283464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64408" y="2480818"/>
            <a:ext cx="2468880" cy="36576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46120" y="2101723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respaldada por Google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7660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analiza movimiento del ratón, historial y patrones de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sospechosas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874520"/>
            <a:ext cx="2651760" cy="283464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099048" y="2480818"/>
            <a:ext cx="2468880" cy="36576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080760" y="2101723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sencilla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76606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SDK (kit de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oficial se carga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Google sin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extra al </a:t>
            </a:r>
            <a:r>
              <a:rPr lang="en-US" sz="1100" dirty="0" err="1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Cliente — api.js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6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https://www.google.com/recaptcha/api.js?render=explicit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3840480" cy="91440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render=explicit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 el renderizado automático. Control total vía grecaptcha.render()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280160"/>
            <a:ext cx="4389120" cy="91440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2628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métodos del objeto grecaptcha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1664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6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reset(widgetId)  ·  getResponse(widgetId)  ·  execute(widgetId)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Opciones de grecaptcha.render()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97480"/>
          <a:ext cx="8412480" cy="2240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sitekey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90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 pública. Identifica el dominio ante Google.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callback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90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llama cuando el usuario completa el reCAPTCHA. Recibe el token.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expired-callback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90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llama cuando el token caduca (~2 minutos tras generarse).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ACC1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size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A90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"normal" | "compact"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8EF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 del widget. compact para pantallas estrechas (&lt;550px).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Servidor — siteverify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1A2A3F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02920" y="8869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C6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https://www.google.com/recaptcha/api/siteverify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del body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114800" cy="41148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83080" y="18745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34640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secreta (solo servidor)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4114800" cy="411480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3080" y="235000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34640" y="235000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generado por el widget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508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error clave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874520"/>
            <a:ext cx="4114800" cy="41148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48006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missing-input-secret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23760" y="18745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envió la clave secreta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2350008"/>
            <a:ext cx="4114800" cy="411480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4800600" y="2350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invalid-input-response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223760" y="2350008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corrupto o caducado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825496"/>
            <a:ext cx="4114800" cy="41148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00600" y="282549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timeout-or-duplicate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23760" y="28254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ya usado o expirado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300984"/>
            <a:ext cx="4114800" cy="411480"/>
          </a:xfrm>
          <a:prstGeom prst="rect">
            <a:avLst/>
          </a:prstGeom>
          <a:solidFill>
            <a:srgbClr val="162032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4800600" y="330098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bad-request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23760" y="3300984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petición incorrecto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0D2B1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02920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claves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PUBLIC_RECAPTCHA_SITE_KEY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Navegador · Renderizar widget   |   </a:t>
            </a: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RECAPTCHA_SECRET</a:t>
            </a:r>
            <a:r>
              <a:rPr lang="en-US" sz="110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Solo servidor · Verificar token · NUNCA exponer al cliente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Código: 4 pasos de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82880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475488" y="1143000"/>
            <a:ext cx="438912" cy="438912"/>
          </a:xfrm>
          <a:prstGeom prst="ellipse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75488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1704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recaptchaLoader.js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script de Google de forma dinámica como singleton (window._grecaptchaPromise). Usa render=explicit para control total.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" y="2395728"/>
            <a:ext cx="3886200" cy="338328"/>
          </a:xfrm>
          <a:prstGeom prst="rect">
            <a:avLst/>
          </a:prstGeom>
          <a:solidFill>
            <a:srgbClr val="0F1624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30352" y="239572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script.src = "…/api.js?render=explicit"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864608" y="1143000"/>
            <a:ext cx="438912" cy="438912"/>
          </a:xfrm>
          <a:prstGeom prst="ellipse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864608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1704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Recaptcha.jsx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6459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 el widget con grecaptcha.render(). El callback escribe el token en el input oculto y emite un CustomEvent.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64608" y="2395728"/>
            <a:ext cx="3886200" cy="338328"/>
          </a:xfrm>
          <a:prstGeom prst="rect">
            <a:avLst/>
          </a:prstGeom>
          <a:solidFill>
            <a:srgbClr val="0F1624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19472" y="239572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grecaptcha.render(ref, { sitekey, callback, expired-callback })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114800" cy="182880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475488" y="3108960"/>
            <a:ext cx="438912" cy="438912"/>
          </a:xfrm>
          <a:prstGeom prst="ellipse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75488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1363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index.astro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" y="3611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el componente con client:only="react". Un &lt;input type="hidden"&gt; actúa de puente entre el widget y el POST.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" y="4361688"/>
            <a:ext cx="3886200" cy="338328"/>
          </a:xfrm>
          <a:prstGeom prst="rect">
            <a:avLst/>
          </a:prstGeom>
          <a:solidFill>
            <a:srgbClr val="0F1624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530352" y="436168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&lt;Recaptcha client:only="react" siteKey={...} /&gt;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14800" cy="1828800"/>
          </a:xfrm>
          <a:prstGeom prst="rect">
            <a:avLst/>
          </a:prstGeom>
          <a:solidFill>
            <a:srgbClr val="1A2A3F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4864608" y="3108960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4864608" y="31089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6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31363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F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actions/index.ts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4608" y="361188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9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extrae el token, llama a siteverify con la clave secreta y solo envía el correo si success === true.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64608" y="4361688"/>
            <a:ext cx="3886200" cy="338328"/>
          </a:xfrm>
          <a:prstGeom prst="rect">
            <a:avLst/>
          </a:prstGeom>
          <a:solidFill>
            <a:srgbClr val="0F1624"/>
          </a:solidFill>
          <a:ln w="12700">
            <a:solidFill>
              <a:srgbClr val="24334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4919472" y="4361688"/>
            <a:ext cx="3794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siteverify → { success } → Nodemailer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62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22725-533A-7299-4C90-26B5041C4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382E32-754B-2BA3-2335-3B560C7D5C1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221B9F-017F-3E41-6381-C2E6C85F0890}"/>
              </a:ext>
            </a:extLst>
          </p:cNvPr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de reCAPTCHA v2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7BFE342-3D65-8929-6304-66E9F1327208}"/>
              </a:ext>
            </a:extLst>
          </p:cNvPr>
          <p:cNvSpPr/>
          <p:nvPr/>
        </p:nvSpPr>
        <p:spPr>
          <a:xfrm>
            <a:off x="256032" y="813816"/>
            <a:ext cx="2011680" cy="246888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C8F9297-DE6E-678A-2F36-570FF8313A47}"/>
              </a:ext>
            </a:extLst>
          </p:cNvPr>
          <p:cNvSpPr/>
          <p:nvPr/>
        </p:nvSpPr>
        <p:spPr>
          <a:xfrm>
            <a:off x="1042416" y="923544"/>
            <a:ext cx="438912" cy="438912"/>
          </a:xfrm>
          <a:prstGeom prst="ellipse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D6E84B2-8CC5-06A9-EAB4-12C7C9C66C4B}"/>
              </a:ext>
            </a:extLst>
          </p:cNvPr>
          <p:cNvSpPr/>
          <p:nvPr/>
        </p:nvSpPr>
        <p:spPr>
          <a:xfrm>
            <a:off x="1042416" y="923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16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3236442-549F-ED39-D27D-A16BA82BFDA7}"/>
              </a:ext>
            </a:extLst>
          </p:cNvPr>
          <p:cNvSpPr/>
          <p:nvPr/>
        </p:nvSpPr>
        <p:spPr>
          <a:xfrm>
            <a:off x="365760" y="1453896"/>
            <a:ext cx="1792224" cy="2743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B11EF5-F26B-5599-D6CA-182163981A79}"/>
              </a:ext>
            </a:extLst>
          </p:cNvPr>
          <p:cNvSpPr/>
          <p:nvPr/>
        </p:nvSpPr>
        <p:spPr>
          <a:xfrm>
            <a:off x="365760" y="149961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C6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Página carga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2AB603C-CED4-9BFF-E8B2-B72B4AA9DCD7}"/>
              </a:ext>
            </a:extLst>
          </p:cNvPr>
          <p:cNvSpPr/>
          <p:nvPr/>
        </p:nvSpPr>
        <p:spPr>
          <a:xfrm>
            <a:off x="365760" y="19293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F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Script de Google insertado en el DOM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2CF4AD-F9B5-0FE5-1D2F-D5AAD4EFCD8F}"/>
              </a:ext>
            </a:extLst>
          </p:cNvPr>
          <p:cNvSpPr/>
          <p:nvPr/>
        </p:nvSpPr>
        <p:spPr>
          <a:xfrm>
            <a:off x="365760" y="22585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Widget del checkbox visible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3497D0F-C8E3-ABB7-C6FF-A761B5B9601B}"/>
              </a:ext>
            </a:extLst>
          </p:cNvPr>
          <p:cNvSpPr/>
          <p:nvPr/>
        </p:nvSpPr>
        <p:spPr>
          <a:xfrm>
            <a:off x="365760" y="258775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Botón de envío desactivado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02AE098-DAF3-4552-64FA-59BD74E8FB87}"/>
              </a:ext>
            </a:extLst>
          </p:cNvPr>
          <p:cNvSpPr/>
          <p:nvPr/>
        </p:nvSpPr>
        <p:spPr>
          <a:xfrm>
            <a:off x="2304288" y="2016252"/>
            <a:ext cx="18288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2C137F7-16B4-F207-9F4D-D0DD218E23E2}"/>
              </a:ext>
            </a:extLst>
          </p:cNvPr>
          <p:cNvSpPr/>
          <p:nvPr/>
        </p:nvSpPr>
        <p:spPr>
          <a:xfrm>
            <a:off x="2432304" y="1965960"/>
            <a:ext cx="82296" cy="16459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B87636E-253F-D37C-80D1-AC68C04192C1}"/>
              </a:ext>
            </a:extLst>
          </p:cNvPr>
          <p:cNvSpPr/>
          <p:nvPr/>
        </p:nvSpPr>
        <p:spPr>
          <a:xfrm>
            <a:off x="2523744" y="813816"/>
            <a:ext cx="2011680" cy="2468880"/>
          </a:xfrm>
          <a:prstGeom prst="rect">
            <a:avLst/>
          </a:prstGeom>
          <a:solidFill>
            <a:srgbClr val="1A2A3F"/>
          </a:solidFill>
          <a:ln w="12700">
            <a:solidFill>
              <a:srgbClr val="243347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82707B0-C85F-6068-2DCE-694E2142E5B8}"/>
              </a:ext>
            </a:extLst>
          </p:cNvPr>
          <p:cNvSpPr/>
          <p:nvPr/>
        </p:nvSpPr>
        <p:spPr>
          <a:xfrm>
            <a:off x="3310128" y="923544"/>
            <a:ext cx="438912" cy="438912"/>
          </a:xfrm>
          <a:prstGeom prst="ellipse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134177B-4C98-7E34-A13D-06810AA7CB4B}"/>
              </a:ext>
            </a:extLst>
          </p:cNvPr>
          <p:cNvSpPr/>
          <p:nvPr/>
        </p:nvSpPr>
        <p:spPr>
          <a:xfrm>
            <a:off x="3310128" y="923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16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F218D28-F006-D25D-5DB5-F428F7464AF6}"/>
              </a:ext>
            </a:extLst>
          </p:cNvPr>
          <p:cNvSpPr/>
          <p:nvPr/>
        </p:nvSpPr>
        <p:spPr>
          <a:xfrm>
            <a:off x="2633472" y="1453896"/>
            <a:ext cx="1792224" cy="2743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8E4B415-7B00-4DC7-F8C0-A282E806745A}"/>
              </a:ext>
            </a:extLst>
          </p:cNvPr>
          <p:cNvSpPr/>
          <p:nvPr/>
        </p:nvSpPr>
        <p:spPr>
          <a:xfrm>
            <a:off x="2633472" y="149961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C6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Usuario completa el check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53028F2-DF31-D4BE-5194-1566748A4C66}"/>
              </a:ext>
            </a:extLst>
          </p:cNvPr>
          <p:cNvSpPr/>
          <p:nvPr/>
        </p:nvSpPr>
        <p:spPr>
          <a:xfrm>
            <a:off x="2633472" y="19293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F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analiza el comportamiento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8701947-A36C-A6D8-06C4-6CF114319516}"/>
              </a:ext>
            </a:extLst>
          </p:cNvPr>
          <p:cNvSpPr/>
          <p:nvPr/>
        </p:nvSpPr>
        <p:spPr>
          <a:xfrm>
            <a:off x="2633472" y="22585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 un token y lo entrega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DD1D835-9CC5-F2C4-60D3-D8A3B474014B}"/>
              </a:ext>
            </a:extLst>
          </p:cNvPr>
          <p:cNvSpPr/>
          <p:nvPr/>
        </p:nvSpPr>
        <p:spPr>
          <a:xfrm>
            <a:off x="2633472" y="258775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Token guardado en campo oculto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CC755BD-45C0-0C67-7AA5-A4AB2215DF5B}"/>
              </a:ext>
            </a:extLst>
          </p:cNvPr>
          <p:cNvSpPr/>
          <p:nvPr/>
        </p:nvSpPr>
        <p:spPr>
          <a:xfrm>
            <a:off x="2633472" y="291693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Botón de envío se activa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0F5C8AF-B8AB-0D22-9DB3-E713985D1D5F}"/>
              </a:ext>
            </a:extLst>
          </p:cNvPr>
          <p:cNvSpPr/>
          <p:nvPr/>
        </p:nvSpPr>
        <p:spPr>
          <a:xfrm>
            <a:off x="4572000" y="2016252"/>
            <a:ext cx="18288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F14B520-07FC-9786-7A31-ACD2D3BD1A17}"/>
              </a:ext>
            </a:extLst>
          </p:cNvPr>
          <p:cNvSpPr/>
          <p:nvPr/>
        </p:nvSpPr>
        <p:spPr>
          <a:xfrm>
            <a:off x="4700016" y="1965960"/>
            <a:ext cx="82296" cy="16459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2FB2BB4-A51E-0878-75F2-6A26D7FD3976}"/>
              </a:ext>
            </a:extLst>
          </p:cNvPr>
          <p:cNvSpPr/>
          <p:nvPr/>
        </p:nvSpPr>
        <p:spPr>
          <a:xfrm>
            <a:off x="4791456" y="813816"/>
            <a:ext cx="2011680" cy="2468880"/>
          </a:xfrm>
          <a:prstGeom prst="rect">
            <a:avLst/>
          </a:prstGeom>
          <a:solidFill>
            <a:srgbClr val="1A2A3F"/>
          </a:solidFill>
          <a:ln w="12700">
            <a:solidFill>
              <a:srgbClr val="FACC1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380C9D0-B9FC-B8C9-8749-E179DD314BAB}"/>
              </a:ext>
            </a:extLst>
          </p:cNvPr>
          <p:cNvSpPr/>
          <p:nvPr/>
        </p:nvSpPr>
        <p:spPr>
          <a:xfrm>
            <a:off x="5577840" y="923544"/>
            <a:ext cx="438912" cy="43891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F8CB886-494D-1E42-3F32-6A3410E6AAB6}"/>
              </a:ext>
            </a:extLst>
          </p:cNvPr>
          <p:cNvSpPr/>
          <p:nvPr/>
        </p:nvSpPr>
        <p:spPr>
          <a:xfrm>
            <a:off x="5577840" y="923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16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E16702B-0BB2-0D30-8E9B-7BE4105EAA20}"/>
              </a:ext>
            </a:extLst>
          </p:cNvPr>
          <p:cNvSpPr/>
          <p:nvPr/>
        </p:nvSpPr>
        <p:spPr>
          <a:xfrm>
            <a:off x="4901184" y="1453896"/>
            <a:ext cx="1792224" cy="27432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7A57F540-F370-CC01-4168-B34DE8486F48}"/>
              </a:ext>
            </a:extLst>
          </p:cNvPr>
          <p:cNvSpPr/>
          <p:nvPr/>
        </p:nvSpPr>
        <p:spPr>
          <a:xfrm>
            <a:off x="4901184" y="149961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Usuario envía el formulario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B969495-B106-EEC2-A14C-E95E9DF8B249}"/>
              </a:ext>
            </a:extLst>
          </p:cNvPr>
          <p:cNvSpPr/>
          <p:nvPr/>
        </p:nvSpPr>
        <p:spPr>
          <a:xfrm>
            <a:off x="4901184" y="19293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F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Viajan al servidor: nombre,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C77CBB4-B3B1-9F90-F248-8DB924B7CC25}"/>
              </a:ext>
            </a:extLst>
          </p:cNvPr>
          <p:cNvSpPr/>
          <p:nvPr/>
        </p:nvSpPr>
        <p:spPr>
          <a:xfrm>
            <a:off x="4901184" y="22585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email, mensaje, imagen y token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20AF596-4961-64FC-EE94-C9631DD2397F}"/>
              </a:ext>
            </a:extLst>
          </p:cNvPr>
          <p:cNvSpPr/>
          <p:nvPr/>
        </p:nvSpPr>
        <p:spPr>
          <a:xfrm>
            <a:off x="4901184" y="258775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Servidor manda token a Google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7C1B40A-8C86-4AB1-D7B4-EDF8586AC108}"/>
              </a:ext>
            </a:extLst>
          </p:cNvPr>
          <p:cNvSpPr/>
          <p:nvPr/>
        </p:nvSpPr>
        <p:spPr>
          <a:xfrm>
            <a:off x="4901184" y="291693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junto con la clave secreta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D5ECA06-F791-EDF4-691C-C993AD157928}"/>
              </a:ext>
            </a:extLst>
          </p:cNvPr>
          <p:cNvSpPr/>
          <p:nvPr/>
        </p:nvSpPr>
        <p:spPr>
          <a:xfrm>
            <a:off x="6839712" y="2016252"/>
            <a:ext cx="182880" cy="64008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AAD3304-A293-DD08-76C8-850B17448F2D}"/>
              </a:ext>
            </a:extLst>
          </p:cNvPr>
          <p:cNvSpPr/>
          <p:nvPr/>
        </p:nvSpPr>
        <p:spPr>
          <a:xfrm>
            <a:off x="6967728" y="1965960"/>
            <a:ext cx="82296" cy="164592"/>
          </a:xfrm>
          <a:prstGeom prst="rect">
            <a:avLst/>
          </a:prstGeom>
          <a:solidFill>
            <a:srgbClr val="00C6BE"/>
          </a:solidFill>
          <a:ln w="12700">
            <a:solidFill>
              <a:srgbClr val="00C6B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79C9E4F-D141-8205-A923-26DA9441267F}"/>
              </a:ext>
            </a:extLst>
          </p:cNvPr>
          <p:cNvSpPr/>
          <p:nvPr/>
        </p:nvSpPr>
        <p:spPr>
          <a:xfrm>
            <a:off x="7059168" y="813816"/>
            <a:ext cx="2011680" cy="2468880"/>
          </a:xfrm>
          <a:prstGeom prst="rect">
            <a:avLst/>
          </a:prstGeom>
          <a:solidFill>
            <a:srgbClr val="1A2A3F"/>
          </a:solidFill>
          <a:ln w="12700">
            <a:solidFill>
              <a:srgbClr val="22C55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C3A34B3-46EF-0807-18EB-DC65F6108457}"/>
              </a:ext>
            </a:extLst>
          </p:cNvPr>
          <p:cNvSpPr/>
          <p:nvPr/>
        </p:nvSpPr>
        <p:spPr>
          <a:xfrm>
            <a:off x="7845552" y="923544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41BA8747-FA70-8EA8-406C-0E06F97614B8}"/>
              </a:ext>
            </a:extLst>
          </p:cNvPr>
          <p:cNvSpPr/>
          <p:nvPr/>
        </p:nvSpPr>
        <p:spPr>
          <a:xfrm>
            <a:off x="7845552" y="923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F162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243A3B18-A601-3B2C-5D75-47C3012618B4}"/>
              </a:ext>
            </a:extLst>
          </p:cNvPr>
          <p:cNvSpPr/>
          <p:nvPr/>
        </p:nvSpPr>
        <p:spPr>
          <a:xfrm>
            <a:off x="7168896" y="1453896"/>
            <a:ext cx="1792224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B26B734-9341-F23F-E0BA-EE8066FF250C}"/>
              </a:ext>
            </a:extLst>
          </p:cNvPr>
          <p:cNvSpPr/>
          <p:nvPr/>
        </p:nvSpPr>
        <p:spPr>
          <a:xfrm>
            <a:off x="7168896" y="1499616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del servidor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6B5AECF7-BF11-8F1C-9A9B-A668E8FAF19F}"/>
              </a:ext>
            </a:extLst>
          </p:cNvPr>
          <p:cNvSpPr/>
          <p:nvPr/>
        </p:nvSpPr>
        <p:spPr>
          <a:xfrm>
            <a:off x="7168896" y="192938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FF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✗  false → petición rechazada,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B17F1697-69A8-795B-0186-693DEC51E859}"/>
              </a:ext>
            </a:extLst>
          </p:cNvPr>
          <p:cNvSpPr/>
          <p:nvPr/>
        </p:nvSpPr>
        <p:spPr>
          <a:xfrm>
            <a:off x="7168896" y="225856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correo no se envía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63B5AE1-5A19-8482-8C69-CD38E172022E}"/>
              </a:ext>
            </a:extLst>
          </p:cNvPr>
          <p:cNvSpPr/>
          <p:nvPr/>
        </p:nvSpPr>
        <p:spPr>
          <a:xfrm>
            <a:off x="7168896" y="258775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✔  true → datos procesados,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824023B-F359-A03F-FAA6-889664B136BD}"/>
              </a:ext>
            </a:extLst>
          </p:cNvPr>
          <p:cNvSpPr/>
          <p:nvPr/>
        </p:nvSpPr>
        <p:spPr>
          <a:xfrm>
            <a:off x="7168896" y="2916936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   correo enviado con Nodemailer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00FE2B38-1701-54C0-E073-5A482E532519}"/>
              </a:ext>
            </a:extLst>
          </p:cNvPr>
          <p:cNvSpPr/>
          <p:nvPr/>
        </p:nvSpPr>
        <p:spPr>
          <a:xfrm>
            <a:off x="365760" y="3429000"/>
            <a:ext cx="4114800" cy="960120"/>
          </a:xfrm>
          <a:prstGeom prst="rect">
            <a:avLst/>
          </a:prstGeom>
          <a:solidFill>
            <a:srgbClr val="0D2233"/>
          </a:solidFill>
          <a:ln w="12700">
            <a:solidFill>
              <a:srgbClr val="00C6BE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828FD9F-26F5-C1EF-E2B4-2E8305E6EE0F}"/>
              </a:ext>
            </a:extLst>
          </p:cNvPr>
          <p:cNvSpPr/>
          <p:nvPr/>
        </p:nvSpPr>
        <p:spPr>
          <a:xfrm>
            <a:off x="502920" y="3493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C6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Clave pública  —  PUBLIC_RECAPTCHA_SITE_KEY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BDFA10F-A8D5-F7BB-B0B4-60CA5D9325E6}"/>
              </a:ext>
            </a:extLst>
          </p:cNvPr>
          <p:cNvSpPr/>
          <p:nvPr/>
        </p:nvSpPr>
        <p:spPr>
          <a:xfrm>
            <a:off x="502920" y="37947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Vive en el navegador. Se pasa a grecaptcha.render() en Recaptcha.jsx para que Google sepa de qué dominio viene el widget. No pasa nada si alguien la ve.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29A93037-232B-4A45-77AD-7DED9FFC442B}"/>
              </a:ext>
            </a:extLst>
          </p:cNvPr>
          <p:cNvSpPr/>
          <p:nvPr/>
        </p:nvSpPr>
        <p:spPr>
          <a:xfrm>
            <a:off x="4663440" y="3429000"/>
            <a:ext cx="4114800" cy="960120"/>
          </a:xfrm>
          <a:prstGeom prst="rect">
            <a:avLst/>
          </a:prstGeom>
          <a:solidFill>
            <a:srgbClr val="1A0D0D"/>
          </a:solidFill>
          <a:ln w="1270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485D0E98-67B3-3962-7D5E-07FF6077D249}"/>
              </a:ext>
            </a:extLst>
          </p:cNvPr>
          <p:cNvSpPr/>
          <p:nvPr/>
        </p:nvSpPr>
        <p:spPr>
          <a:xfrm>
            <a:off x="4800600" y="3493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Clave secreta  —  RECAPTCHA_SECRET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B33428B-F096-5C35-7331-8FFCA63A36BB}"/>
              </a:ext>
            </a:extLst>
          </p:cNvPr>
          <p:cNvSpPr/>
          <p:nvPr/>
        </p:nvSpPr>
        <p:spPr>
          <a:xfrm>
            <a:off x="4800600" y="37947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7A90A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Solo existe en el servidor. Se manda a Google junto con el token para verificarlo. Sin ella Google no responde. El navegador nunca la ve.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080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774</Words>
  <Application>Microsoft Office PowerPoint</Application>
  <PresentationFormat>Presentación en pantalla (16:9)</PresentationFormat>
  <Paragraphs>118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reCAPTCHA v2 con Astro</dc:title>
  <dc:subject>PptxGenJS Presentation</dc:subject>
  <dc:creator>PptxGenJS</dc:creator>
  <cp:lastModifiedBy>Ivan Delgado Alcobenda  -  Alumno CEAC FP</cp:lastModifiedBy>
  <cp:revision>2</cp:revision>
  <dcterms:created xsi:type="dcterms:W3CDTF">2026-05-11T09:21:19Z</dcterms:created>
  <dcterms:modified xsi:type="dcterms:W3CDTF">2026-05-11T11:25:19Z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2026-05-11T11:25:18Z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baebe467-47d5-48b9-8830-0d54fa0099cf</vt:lpwstr>
  </property>
  <property fmtid="{D5CDD505-2E9C-101B-9397-08002B2CF9AE}" pid="7" name="MSIP_Label_defa4170-0d19-0005-0004-bc88714345d2_ActionId">
    <vt:lpwstr>a3eb585e-f235-4d51-874f-b81a183251e1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